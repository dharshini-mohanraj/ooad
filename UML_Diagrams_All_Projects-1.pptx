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65310be-5222-1511-8425-238285ebff6c}">
          <p14:sldIdLst>
            <p14:sldId id="256"/>
            <p14:sldId id="257"/>
            <p14:sldId id="258"/>
          </p14:sldIdLst>
        </p14:section>
        <p14:section name="2. Stock Maintenance" id="{31d31b24-c1f6-6d99-8756-b4e0752be4b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3. Passport Automation System" id="{ef8374dd-4a3e-ac93-658c-3d252a3cfbcc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4. Book Bank" id="{4b21daf2-fbeb-19c8-5901-17569bf9e3c2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5. Software Personnel Management System" id="{749e3584-2fc3-0fad-ee8f-fba1a2dfc6c4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6. E-Ticketing" id="{43edc588-eb17-b92f-5236-371fa02a6b0e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7. BPO Management System" id="{a53b713b-8bac-d60e-8dd4-0cdc3ec7e4be}">
          <p14:sldIdLst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8. Conference Management System" id="{d300ee3d-74e8-8cdf-410f-d4d2216b58b4}">
          <p14:sldIdLst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Stock Maintenance: Use Case Diagram. Shows WHAT the system does for its actors, not HOW. Actors stay outside the boundary; no ordering or data detail; «include» is mandatory, «extend» is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Stock Maintenance: Class Diagram. Static structure only; behaviour over time is not shown. Show multiplicity on associations; composition parts are not shared; generalization must not be circular.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Stock Maintenance: Sequence Diagram. Shows ONE scenario in time order (top to bottom). Poor for loops and many branches; use alt/loop frames or an activity diagram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Stock Maintenance: Collaboration Diagram. Same information as the sequence diagram, but emphasises object links; message order is shown only by numbers, and it gets cluttered with many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Stock Maintenance: Activity Diagram. Shows flow of control: one initial node, guards on decisions must be mutually exclusive, every fork needs a matching join. Weak at showing which object owns an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Stock Maintenance: State Diagram (PurchaseOrder). Models the lifecycle of ONE object only. Every transition needs an event, guards must not overlap, and it suits reactive objects, not every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Stock Maintenance: Package Diagram. Groups elements into namespaces and shows dependencies between groups; dependencies should not form cycles; internal detail is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Stock Maintenance: Component Diagram. Physical, modular view with provided (lollipop) and required (dashed) interfaces; shows no run-time behaviour and hides internal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Passport Automation System: Use Case Diagram. Shows WHAT the system does for its actors, not HOW. Actors stay outside the boundary; no ordering or data detail; «include» is mandatory, «extend» is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Passport Automation System: Class Diagram. Static structure only; behaviour over time is not shown. Show multiplicity on associations; composition parts are not shared; generalization must not be circular.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Passport Automation System: Sequence Diagram. Shows ONE scenario in time order (top to bottom). Poor for loops and many branches; use alt/loop frames or an activity diagram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Passport Automation System: Collaboration Diagram. Same information as the sequence diagram, but emphasises object links; message order is shown only by numbers, and it gets cluttered with many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Passport Automation System: Activity Diagram. Shows flow of control: one initial node, guards on decisions must be mutually exclusive, every fork needs a matching join. Weak at showing which object owns an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Passport Automation System: State Diagram (Application). Models the lifecycle of ONE object only. Every transition needs an event, guards must not overlap, and it suits reactive objects, not every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Passport Automation System: Package Diagram. Groups elements into namespaces and shows dependencies between groups; dependencies should not form cycles; internal detail is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Passport Automation System: Component Diagram. Physical, modular view with provided (lollipop) and required (dashed) interfaces; shows no run-time behaviour and hides internal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Book Bank: Use Case Diagram. Shows WHAT the system does for its actors, not HOW. Actors stay outside the boundary; no ordering or data detail; «include» is mandatory, «extend» is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Book Bank: Class Diagram. Static structure only; behaviour over time is not shown. Show multiplicity on associations; composition parts are not shared; generalization must not be circular.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Book Bank: Sequence Diagram. Shows ONE scenario in time order (top to bottom). Poor for loops and many branches; use alt/loop frames or an activity diagram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Book Bank: Collaboration Diagram. Same information as the sequence diagram, but emphasises object links; message order is shown only by numbers, and it gets cluttered with many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Book Bank: Activity Diagram. Shows flow of control: one initial node, guards on decisions must be mutually exclusive, every fork needs a matching join. Weak at showing which object owns an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Book Bank: State Diagram (Book Copy). Models the lifecycle of ONE object only. Every transition needs an event, guards must not overlap, and it suits reactive objects, not every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Book Bank: Package Diagram. Groups elements into namespaces and shows dependencies between groups; dependencies should not form cycles; internal detail is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Book Bank: Component Diagram. Physical, modular view with provided (lollipop) and required (dashed) interfaces; shows no run-time behaviour and hides internal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Software Personnel Management System: Use Case Diagram. Shows WHAT the system does for its actors, not HOW. Actors stay outside the boundary; no ordering or data detail; «include» is mandatory, «extend» is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Software Personnel Management System: Class Diagram. Static structure only; behaviour over time is not shown. Show multiplicity on associations; composition parts are not shared; generalization must not be circular.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Software Personnel Management System: Sequence Diagram. Shows ONE scenario in time order (top to bottom). Poor for loops and many branches; use alt/loop frames or an activity diagram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Software Personnel Management System: Collaboration Diagram. Same information as the sequence diagram, but emphasises object links; message order is shown only by numbers, and it gets cluttered with many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Software Personnel Management System: Activity Diagram. Shows flow of control: one initial node, guards on decisions must be mutually exclusive, every fork needs a matching join. Weak at showing which object owns an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Software Personnel Management System: State Diagram (Employee). Models the lifecycle of ONE object only. Every transition needs an event, guards must not overlap, and it suits reactive objects, not every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Software Personnel Management System: Package Diagram. Groups elements into namespaces and shows dependencies between groups; dependencies should not form cycles; internal detail is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Software Personnel Management System: Component Diagram. Physical, modular view with provided (lollipop) and required (dashed) interfaces; shows no run-time behaviour and hides internal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E-Ticketing: Use Case Diagram. Shows WHAT the system does for its actors, not HOW. Actors stay outside the boundary; no ordering or data detail; «include» is mandatory, «extend» is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E-Ticketing: Class Diagram. Static structure only; behaviour over time is not shown. Show multiplicity on associations; composition parts are not shared; generalization must not be circular.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E-Ticketing: Sequence Diagram. Shows ONE scenario in time order (top to bottom). Poor for loops and many branches; use alt/loop frames or an activity diagram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E-Ticketing: Collaboration Diagram. Same information as the sequence diagram, but emphasises object links; message order is shown only by numbers, and it gets cluttered with many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E-Ticketing: Activity Diagram. Shows flow of control: one initial node, guards on decisions must be mutually exclusive, every fork needs a matching join. Weak at showing which object owns an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E-Ticketing: State Diagram (Booking). Models the lifecycle of ONE object only. Every transition needs an event, guards must not overlap, and it suits reactive objects, not every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E-Ticketing: Package Diagram. Groups elements into namespaces and shows dependencies between groups; dependencies should not form cycles; internal detail is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E-Ticketing: Component Diagram. Physical, modular view with provided (lollipop) and required (dashed) interfaces; shows no run-time behaviour and hides internal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BPO Management System: Use Case Diagram. Shows WHAT the system does for its actors, not HOW. Actors stay outside the boundary; no ordering or data detail; «include» is mandatory, «extend» is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BPO Management System: Class Diagram. Static structure only; behaviour over time is not shown. Show multiplicity on associations; composition parts are not shared; generalization must not be circular.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BPO Management System: Sequence Diagram. Shows ONE scenario in time order (top to bottom). Poor for loops and many branches; use alt/loop frames or an activity diagram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BPO Management System: Collaboration Diagram. Same information as the sequence diagram, but emphasises object links; message order is shown only by numbers, and it gets cluttered with many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BPO Management System: Activity Diagram. Shows flow of control: one initial node, guards on decisions must be mutually exclusive, every fork needs a matching join. Weak at showing which object owns an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BPO Management System: State Diagram (Ticket). Models the lifecycle of ONE object only. Every transition needs an event, guards must not overlap, and it suits reactive objects, not every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BPO Management System: Package Diagram. Groups elements into namespaces and shows dependencies between groups; dependencies should not form cycles; internal detail is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BPO Management System: Component Diagram. Physical, modular view with provided (lollipop) and required (dashed) interfaces; shows no run-time behaviour and hides internal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Conference Management System: Use Case Diagram. Shows WHAT the system does for its actors, not HOW. Actors stay outside the boundary; no ordering or data detail; «include» is mandatory, «extend» is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Conference Management System: Class Diagram. Static structure only; behaviour over time is not shown. Show multiplicity on associations; composition parts are not shared; generalization must not be circular.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Conference Management System: Sequence Diagram. Shows ONE scenario in time order (top to bottom). Poor for loops and many branches; use alt/loop frames or an activity diagram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Conference Management System: Collaboration Diagram. Same information as the sequence diagram, but emphasises object links; message order is shown only by numbers, and it gets cluttered with many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Conference Management System: Activity Diagram. Shows flow of control: one initial node, guards on decisions must be mutually exclusive, every fork needs a matching join. Weak at showing which object owns an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Conference Management System: State Diagram (Paper). Models the lifecycle of ONE object only. Every transition needs an event, guards must not overlap, and it suits reactive objects, not every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Conference Management System: Package Diagram. Groups elements into namespaces and shows dependencies between groups; dependencies should not form cycles; internal detail is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Conference Management System: Component Diagram. Physical, modular view with provided (lollipop) and required (dashed) interfaces; shows no run-time behaviour and hides internal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UML Diagrams for Seven Software Projects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Use case, class, sequence, collaboration, activity, state, package and component diagrams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 Stock Maintenance  |  3 Passport Automation  |  4 Book Bank  |  5 Personnel Management  |  6 E-Ticketing  |  7 BPO Management  |  8 Conference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Relationships used in these diagrams</a:t>
            </a:r>
            <a:endParaRPr lang="en-US" sz="2400" dirty="0"/>
          </a:p>
        </p:txBody>
      </p:sp>
      <p:pic>
        <p:nvPicPr>
          <p:cNvPr id="3" name="Image 0" descr="Notation for UML relationshi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669280" cy="45421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188720"/>
            <a:ext cx="53035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</a:rPr>
              <a:t>Association: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a structural link with multiplicity, e.g. Applicant 1 — * Application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</a:rPr>
              <a:t>Aggregation: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whole–part where the part can exist alone, e.g. Category ◇— Book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</a:rPr>
              <a:t>Composition: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strong ownership, part dies with the whole, e.g. PurchaseOrder ◆— POLine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</a:rPr>
              <a:t>Generalization: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is-a inheritance, e.g. User ← Customer, Agent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</a:rPr>
              <a:t>Dependency: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one element uses another, e.g. Presentation ⇢ Business Logic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</a:rPr>
              <a:t>Realization: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a component implements an interface (lollipop)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</a:rPr>
              <a:t>«include» / «extend»: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mandatory vs. conditional sub-behaviour between use cases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Components used in each diagram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85216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Diagram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Main elements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Use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Actors, use cases, system boundary, include/extend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order or data detail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Classes (name, attributes, operations), multiplicities, relationships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Static view only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Sequence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Lifelines, activation bars, synchronous/return messages, self-calls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One scenario at a 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Collaboration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Objects, links, numbered messages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Cluttered with many objects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Activity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Start/end, actions, decisions, fork/join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Weak on object ownership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States, transitions (event [guard] / action), start/end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One object per diagram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Package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Packages, «use», «import», «access» dependencies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Hides internal detail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Components, provided/required interfaces, database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run-time behaviour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2. Stock Maintenance: Use Case Diagram</a:t>
            </a:r>
            <a:endParaRPr lang="en-US" sz="2400" dirty="0"/>
          </a:p>
        </p:txBody>
      </p:sp>
      <p:pic>
        <p:nvPicPr>
          <p:cNvPr id="3" name="Image 0" descr="2. Stock Maintenance: Use Cas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211" y="1005840"/>
            <a:ext cx="7717098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WHAT the system does for its actors, not HOW. Actors stay outside the boundary; no ordering or data detail; «include» is mandatory, «extend» is conditional.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2. Stock Maintenance: Class Diagram</a:t>
            </a:r>
            <a:endParaRPr lang="en-US" sz="2400" dirty="0"/>
          </a:p>
        </p:txBody>
      </p:sp>
      <p:pic>
        <p:nvPicPr>
          <p:cNvPr id="3" name="Image 0" descr="2. Stock Maintenance: Class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2691"/>
            <a:ext cx="11247120" cy="38440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Static structure only; behaviour over time is not shown. Show multiplicity on associations; composition parts are not shared; generalization must not be circular.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2. Stock Maintenance: Sequence Diagram</a:t>
            </a:r>
            <a:endParaRPr lang="en-US" sz="2400" dirty="0"/>
          </a:p>
        </p:txBody>
      </p:sp>
      <p:pic>
        <p:nvPicPr>
          <p:cNvPr id="3" name="Image 0" descr="2. Stock Maintenance: Sequenc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4158"/>
            <a:ext cx="11247120" cy="4781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ONE scenario in time order (top to bottom). Poor for loops and many branches; use alt/loop frames or an activity diagram instead.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2. Stock Maintenance: Collaboration Diagram</a:t>
            </a:r>
            <a:endParaRPr lang="en-US" sz="2400" dirty="0"/>
          </a:p>
        </p:txBody>
      </p:sp>
      <p:pic>
        <p:nvPicPr>
          <p:cNvPr id="3" name="Image 0" descr="2. Stock Maintenance: Collaboration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1035" y="1005840"/>
            <a:ext cx="4719451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Same information as the sequence diagram, but emphasises object links; message order is shown only by numbers, and it gets cluttered with many objects.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2. Stock Maintenance: Activity Diagram</a:t>
            </a:r>
            <a:endParaRPr lang="en-US" sz="2400" dirty="0"/>
          </a:p>
        </p:txBody>
      </p:sp>
      <p:pic>
        <p:nvPicPr>
          <p:cNvPr id="3" name="Image 0" descr="2. Stock Maintenance: Activity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105" y="1005840"/>
            <a:ext cx="9269310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flow of control: one initial node, guards on decisions must be mutually exclusive, every fork needs a matching join. Weak at showing which object owns an action.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2. Stock Maintenance: State Diagram (PurchaseOrder)</a:t>
            </a:r>
            <a:endParaRPr lang="en-US" sz="2400" dirty="0"/>
          </a:p>
        </p:txBody>
      </p:sp>
      <p:pic>
        <p:nvPicPr>
          <p:cNvPr id="3" name="Image 0" descr="2. Stock Maintenance: State Diagram (PurchaseOrde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2369" y="1005840"/>
            <a:ext cx="5816783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Models the lifecycle of ONE object only. Every transition needs an event, guards must not overlap, and it suits reactive objects, not every class.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2. Stock Maintenance: Package Diagram</a:t>
            </a:r>
            <a:endParaRPr lang="en-US" sz="2400" dirty="0"/>
          </a:p>
        </p:txBody>
      </p:sp>
      <p:pic>
        <p:nvPicPr>
          <p:cNvPr id="3" name="Image 0" descr="2. Stock Maintenance: Packag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06367"/>
            <a:ext cx="11247120" cy="333670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Groups elements into namespaces and shows dependencies between groups; dependencies should not form cycles; internal detail is hidden.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2. Stock Maintenance: Component Diagram</a:t>
            </a:r>
            <a:endParaRPr lang="en-US" sz="2400" dirty="0"/>
          </a:p>
        </p:txBody>
      </p:sp>
      <p:pic>
        <p:nvPicPr>
          <p:cNvPr id="3" name="Image 0" descr="2. Stock Maintenance: Component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79645"/>
            <a:ext cx="11247120" cy="19901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Physical, modular view with provided (lollipop) and required (dashed) interfaces; shows no run-time behaviour and hides internal classes.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3. Passport Automation System: Use Case Diagram</a:t>
            </a:r>
            <a:endParaRPr lang="en-US" sz="2400" dirty="0"/>
          </a:p>
        </p:txBody>
      </p:sp>
      <p:pic>
        <p:nvPicPr>
          <p:cNvPr id="3" name="Image 0" descr="3. Passport Automation System: Use Cas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6935" y="1005840"/>
            <a:ext cx="8627651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WHAT the system does for its actors, not HOW. Actors stay outside the boundary; no ordering or data detail; «include» is mandatory, «extend» is conditional.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3. Passport Automation System: Class Diagram</a:t>
            </a:r>
            <a:endParaRPr lang="en-US" sz="2400" dirty="0"/>
          </a:p>
        </p:txBody>
      </p:sp>
      <p:pic>
        <p:nvPicPr>
          <p:cNvPr id="3" name="Image 0" descr="3. Passport Automation System: Class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5465" y="1005840"/>
            <a:ext cx="7830589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Static structure only; behaviour over time is not shown. Show multiplicity on associations; composition parts are not shared; generalization must not be circular.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3. Passport Automation System: Sequence Diagram</a:t>
            </a:r>
            <a:endParaRPr lang="en-US" sz="2400" dirty="0"/>
          </a:p>
        </p:txBody>
      </p:sp>
      <p:pic>
        <p:nvPicPr>
          <p:cNvPr id="3" name="Image 0" descr="3. Passport Automation System: Sequenc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2645"/>
            <a:ext cx="11247120" cy="44441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ONE scenario in time order (top to bottom). Poor for loops and many branches; use alt/loop frames or an activity diagram instead.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3. Passport Automation System: Collaboration Diagram</a:t>
            </a:r>
            <a:endParaRPr lang="en-US" sz="2400" dirty="0"/>
          </a:p>
        </p:txBody>
      </p:sp>
      <p:pic>
        <p:nvPicPr>
          <p:cNvPr id="3" name="Image 0" descr="3. Passport Automation System: Collaboration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2251" y="1005840"/>
            <a:ext cx="4517018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Same information as the sequence diagram, but emphasises object links; message order is shown only by numbers, and it gets cluttered with many objects.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3. Passport Automation System: Activity Diagram</a:t>
            </a:r>
            <a:endParaRPr lang="en-US" sz="2400" dirty="0"/>
          </a:p>
        </p:txBody>
      </p:sp>
      <p:pic>
        <p:nvPicPr>
          <p:cNvPr id="3" name="Image 0" descr="3. Passport Automation System: Activity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0435" y="1005840"/>
            <a:ext cx="3980650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flow of control: one initial node, guards on decisions must be mutually exclusive, every fork needs a matching join. Weak at showing which object owns an action.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3. Passport Automation System: State Diagram (Application)</a:t>
            </a:r>
            <a:endParaRPr lang="en-US" sz="2400" dirty="0"/>
          </a:p>
        </p:txBody>
      </p:sp>
      <p:pic>
        <p:nvPicPr>
          <p:cNvPr id="3" name="Image 0" descr="3. Passport Automation System: State Diagram (Application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6005" y="1005840"/>
            <a:ext cx="3769510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Models the lifecycle of ONE object only. Every transition needs an event, guards must not overlap, and it suits reactive objects, not every class.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3. Passport Automation System: Package Diagram</a:t>
            </a:r>
            <a:endParaRPr lang="en-US" sz="2400" dirty="0"/>
          </a:p>
        </p:txBody>
      </p:sp>
      <p:pic>
        <p:nvPicPr>
          <p:cNvPr id="3" name="Image 0" descr="3. Passport Automation System: Packag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45521"/>
            <a:ext cx="11247120" cy="44583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Groups elements into namespaces and shows dependencies between groups; dependencies should not form cycles; internal detail is hidden.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3. Passport Automation System: Component Diagram</a:t>
            </a:r>
            <a:endParaRPr lang="en-US" sz="2400" dirty="0"/>
          </a:p>
        </p:txBody>
      </p:sp>
      <p:pic>
        <p:nvPicPr>
          <p:cNvPr id="3" name="Image 0" descr="3. Passport Automation System: Component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81698"/>
            <a:ext cx="11247120" cy="19860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Physical, modular view with provided (lollipop) and required (dashed) interfaces; shows no run-time behaviour and hides internal classes.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4. Book Bank: Use Case Diagram</a:t>
            </a:r>
            <a:endParaRPr lang="en-US" sz="2400" dirty="0"/>
          </a:p>
        </p:txBody>
      </p:sp>
      <p:pic>
        <p:nvPicPr>
          <p:cNvPr id="3" name="Image 0" descr="4. Book Bank: Use Cas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203" y="1005840"/>
            <a:ext cx="9791114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WHAT the system does for its actors, not HOW. Actors stay outside the boundary; no ordering or data detail; «include» is mandatory, «extend» is conditional.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4. Book Bank: Class Diagram</a:t>
            </a:r>
            <a:endParaRPr lang="en-US" sz="2400" dirty="0"/>
          </a:p>
        </p:txBody>
      </p:sp>
      <p:pic>
        <p:nvPicPr>
          <p:cNvPr id="3" name="Image 0" descr="4. Book Bank: Class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2065" y="1005840"/>
            <a:ext cx="6837390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Static structure only; behaviour over time is not shown. Show multiplicity on associations; composition parts are not shared; generalization must not be circular.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4. Book Bank: Sequence Diagram</a:t>
            </a:r>
            <a:endParaRPr lang="en-US" sz="2400" dirty="0"/>
          </a:p>
        </p:txBody>
      </p:sp>
      <p:pic>
        <p:nvPicPr>
          <p:cNvPr id="3" name="Image 0" descr="4. Book Bank: Sequenc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2645"/>
            <a:ext cx="11247120" cy="44441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ONE scenario in time order (top to bottom). Poor for loops and many branches; use alt/loop frames or an activity diagram instead.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4. Book Bank: Collaboration Diagram</a:t>
            </a:r>
            <a:endParaRPr lang="en-US" sz="2400" dirty="0"/>
          </a:p>
        </p:txBody>
      </p:sp>
      <p:pic>
        <p:nvPicPr>
          <p:cNvPr id="3" name="Image 0" descr="4. Book Bank: Collaboration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4787" y="1005840"/>
            <a:ext cx="5171946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Same information as the sequence diagram, but emphasises object links; message order is shown only by numbers, and it gets cluttered with many objects.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4. Book Bank: Activity Diagram</a:t>
            </a:r>
            <a:endParaRPr lang="en-US" sz="2400" dirty="0"/>
          </a:p>
        </p:txBody>
      </p:sp>
      <p:pic>
        <p:nvPicPr>
          <p:cNvPr id="3" name="Image 0" descr="4. Book Bank: Activity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2308" y="1005840"/>
            <a:ext cx="3096903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flow of control: one initial node, guards on decisions must be mutually exclusive, every fork needs a matching join. Weak at showing which object owns an action.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4. Book Bank: State Diagram (Book Copy)</a:t>
            </a:r>
            <a:endParaRPr lang="en-US" sz="2400" dirty="0"/>
          </a:p>
        </p:txBody>
      </p:sp>
      <p:pic>
        <p:nvPicPr>
          <p:cNvPr id="3" name="Image 0" descr="4. Book Bank: State Diagram (Book Copy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33" y="1005840"/>
            <a:ext cx="9837454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Models the lifecycle of ONE object only. Every transition needs an event, guards must not overlap, and it suits reactive objects, not every class.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4. Book Bank: Package Diagram</a:t>
            </a:r>
            <a:endParaRPr lang="en-US" sz="2400" dirty="0"/>
          </a:p>
        </p:txBody>
      </p:sp>
      <p:pic>
        <p:nvPicPr>
          <p:cNvPr id="3" name="Image 0" descr="4. Book Bank: Packag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1827"/>
            <a:ext cx="11247120" cy="344578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Groups elements into namespaces and shows dependencies between groups; dependencies should not form cycles; internal detail is hidden.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4. Book Bank: Component Diagram</a:t>
            </a:r>
            <a:endParaRPr lang="en-US" sz="2400" dirty="0"/>
          </a:p>
        </p:txBody>
      </p:sp>
      <p:pic>
        <p:nvPicPr>
          <p:cNvPr id="3" name="Image 0" descr="4. Book Bank: Component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06283"/>
            <a:ext cx="11247120" cy="31368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Physical, modular view with provided (lollipop) and required (dashed) interfaces; shows no run-time behaviour and hides internal classes.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5. Software Personnel Management System: Use Case Diagram</a:t>
            </a:r>
            <a:endParaRPr lang="en-US" sz="2400" dirty="0"/>
          </a:p>
        </p:txBody>
      </p:sp>
      <p:pic>
        <p:nvPicPr>
          <p:cNvPr id="3" name="Image 0" descr="5. Software Personnel Management System: Use Cas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8648" y="1005840"/>
            <a:ext cx="6364224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WHAT the system does for its actors, not HOW. Actors stay outside the boundary; no ordering or data detail; «include» is mandatory, «extend» is conditional.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5. Software Personnel Management System: Class Diagram</a:t>
            </a:r>
            <a:endParaRPr lang="en-US" sz="2400" dirty="0"/>
          </a:p>
        </p:txBody>
      </p:sp>
      <p:pic>
        <p:nvPicPr>
          <p:cNvPr id="3" name="Image 0" descr="5. Software Personnel Management System: Class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2561" y="1005840"/>
            <a:ext cx="6136398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Static structure only; behaviour over time is not shown. Show multiplicity on associations; composition parts are not shared; generalization must not be circular.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5. Software Personnel Management System: Sequence Diagram</a:t>
            </a:r>
            <a:endParaRPr lang="en-US" sz="2400" dirty="0"/>
          </a:p>
        </p:txBody>
      </p:sp>
      <p:pic>
        <p:nvPicPr>
          <p:cNvPr id="3" name="Image 0" descr="5. Software Personnel Management System: Sequenc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2645"/>
            <a:ext cx="11247120" cy="44441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ONE scenario in time order (top to bottom). Poor for loops and many branches; use alt/loop frames or an activity diagram instead.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5. Software Personnel Management System: Collaboration Diagram</a:t>
            </a:r>
            <a:endParaRPr lang="en-US" sz="2400" dirty="0"/>
          </a:p>
        </p:txBody>
      </p:sp>
      <p:pic>
        <p:nvPicPr>
          <p:cNvPr id="3" name="Image 0" descr="5. Software Personnel Management System: Collaboration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0944" y="1005840"/>
            <a:ext cx="4179631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Same information as the sequence diagram, but emphasises object links; message order is shown only by numbers, and it gets cluttered with many objects.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5. Software Personnel Management System: Activity Diagram</a:t>
            </a:r>
            <a:endParaRPr lang="en-US" sz="2400" dirty="0"/>
          </a:p>
        </p:txBody>
      </p:sp>
      <p:pic>
        <p:nvPicPr>
          <p:cNvPr id="3" name="Image 0" descr="5. Software Personnel Management System: Activity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9737" y="1005840"/>
            <a:ext cx="3722045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flow of control: one initial node, guards on decisions must be mutually exclusive, every fork needs a matching join. Weak at showing which object owns an action.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5. Software Personnel Management System: State Diagram (Employee)</a:t>
            </a:r>
            <a:endParaRPr lang="en-US" sz="2400" dirty="0"/>
          </a:p>
        </p:txBody>
      </p:sp>
      <p:pic>
        <p:nvPicPr>
          <p:cNvPr id="3" name="Image 0" descr="5. Software Personnel Management System: State Diagram (Employe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53449"/>
            <a:ext cx="11247120" cy="204254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Models the lifecycle of ONE object only. Every transition needs an event, guards must not overlap, and it suits reactive objects, not every class.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5. Software Personnel Management System: Package Diagram</a:t>
            </a:r>
            <a:endParaRPr lang="en-US" sz="2400" dirty="0"/>
          </a:p>
        </p:txBody>
      </p:sp>
      <p:pic>
        <p:nvPicPr>
          <p:cNvPr id="3" name="Image 0" descr="5. Software Personnel Management System: Packag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05588"/>
            <a:ext cx="11247120" cy="35382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Groups elements into namespaces and shows dependencies between groups; dependencies should not form cycles; internal detail is hidden.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5. Software Personnel Management System: Component Diagram</a:t>
            </a:r>
            <a:endParaRPr lang="en-US" sz="2400" dirty="0"/>
          </a:p>
        </p:txBody>
      </p:sp>
      <p:pic>
        <p:nvPicPr>
          <p:cNvPr id="3" name="Image 0" descr="5. Software Personnel Management System: Component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47256"/>
            <a:ext cx="11247120" cy="28549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Physical, modular view with provided (lollipop) and required (dashed) interfaces; shows no run-time behaviour and hides internal classes.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6. E-Ticketing: Use Case Diagram</a:t>
            </a:r>
            <a:endParaRPr lang="en-US" sz="2400" dirty="0"/>
          </a:p>
        </p:txBody>
      </p:sp>
      <p:pic>
        <p:nvPicPr>
          <p:cNvPr id="3" name="Image 0" descr="6. E-Ticketing: Use Cas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211" y="1005840"/>
            <a:ext cx="7717098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WHAT the system does for its actors, not HOW. Actors stay outside the boundary; no ordering or data detail; «include» is mandatory, «extend» is conditional.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6. E-Ticketing: Class Diagram</a:t>
            </a:r>
            <a:endParaRPr lang="en-US" sz="2400" dirty="0"/>
          </a:p>
        </p:txBody>
      </p:sp>
      <p:pic>
        <p:nvPicPr>
          <p:cNvPr id="3" name="Image 0" descr="6. E-Ticketing: Class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646" y="1005840"/>
            <a:ext cx="7672228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Static structure only; behaviour over time is not shown. Show multiplicity on associations; composition parts are not shared; generalization must not be circular.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6. E-Ticketing: Sequence Diagram</a:t>
            </a:r>
            <a:endParaRPr lang="en-US" sz="2400" dirty="0"/>
          </a:p>
        </p:txBody>
      </p:sp>
      <p:pic>
        <p:nvPicPr>
          <p:cNvPr id="3" name="Image 0" descr="6. E-Ticketing: Sequenc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2645"/>
            <a:ext cx="11247120" cy="44441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ONE scenario in time order (top to bottom). Poor for loops and many branches; use alt/loop frames or an activity diagram instead.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6. E-Ticketing: Collaboration Diagram</a:t>
            </a:r>
            <a:endParaRPr lang="en-US" sz="2400" dirty="0"/>
          </a:p>
        </p:txBody>
      </p:sp>
      <p:pic>
        <p:nvPicPr>
          <p:cNvPr id="3" name="Image 0" descr="6. E-Ticketing: Collaboration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0274" y="1005840"/>
            <a:ext cx="4900972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Same information as the sequence diagram, but emphasises object links; message order is shown only by numbers, and it gets cluttered with many objects.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6. E-Ticketing: Activity Diagram</a:t>
            </a:r>
            <a:endParaRPr lang="en-US" sz="2400" dirty="0"/>
          </a:p>
        </p:txBody>
      </p:sp>
      <p:pic>
        <p:nvPicPr>
          <p:cNvPr id="3" name="Image 0" descr="6. E-Ticketing: Activity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5563" y="1005840"/>
            <a:ext cx="3430393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flow of control: one initial node, guards on decisions must be mutually exclusive, every fork needs a matching join. Weak at showing which object owns an action.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6. E-Ticketing: State Diagram (Booking)</a:t>
            </a:r>
            <a:endParaRPr lang="en-US" sz="2400" dirty="0"/>
          </a:p>
        </p:txBody>
      </p:sp>
      <p:pic>
        <p:nvPicPr>
          <p:cNvPr id="3" name="Image 0" descr="6. E-Ticketing: State Diagram (Booki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52231"/>
            <a:ext cx="11247120" cy="224497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Models the lifecycle of ONE object only. Every transition needs an event, guards must not overlap, and it suits reactive objects, not every class.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6. E-Ticketing: Package Diagram</a:t>
            </a:r>
            <a:endParaRPr lang="en-US" sz="2400" dirty="0"/>
          </a:p>
        </p:txBody>
      </p:sp>
      <p:pic>
        <p:nvPicPr>
          <p:cNvPr id="3" name="Image 0" descr="6. E-Ticketing: Packag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5414"/>
            <a:ext cx="11247120" cy="38786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Groups elements into namespaces and shows dependencies between groups; dependencies should not form cycles; internal detail is hidden.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6. E-Ticketing: Component Diagram</a:t>
            </a:r>
            <a:endParaRPr lang="en-US" sz="2400" dirty="0"/>
          </a:p>
        </p:txBody>
      </p:sp>
      <p:pic>
        <p:nvPicPr>
          <p:cNvPr id="3" name="Image 0" descr="6. E-Ticketing: Component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36546"/>
            <a:ext cx="11247120" cy="24763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Physical, modular view with provided (lollipop) and required (dashed) interfaces; shows no run-time behaviour and hides internal classes.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7. BPO Management System: Use Case Diagram</a:t>
            </a:r>
            <a:endParaRPr lang="en-US" sz="2400" dirty="0"/>
          </a:p>
        </p:txBody>
      </p:sp>
      <p:pic>
        <p:nvPicPr>
          <p:cNvPr id="3" name="Image 0" descr="7. BPO Management System: Use Cas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211" y="1005840"/>
            <a:ext cx="7717098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WHAT the system does for its actors, not HOW. Actors stay outside the boundary; no ordering or data detail; «include» is mandatory, «extend» is conditional.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7. BPO Management System: Class Diagram</a:t>
            </a:r>
            <a:endParaRPr lang="en-US" sz="2400" dirty="0"/>
          </a:p>
        </p:txBody>
      </p:sp>
      <p:pic>
        <p:nvPicPr>
          <p:cNvPr id="3" name="Image 0" descr="7. BPO Management System: Class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926"/>
            <a:ext cx="11247120" cy="49375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Static structure only; behaviour over time is not shown. Show multiplicity on associations; composition parts are not shared; generalization must not be circular.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7. BPO Management System: Sequence Diagram</a:t>
            </a:r>
            <a:endParaRPr lang="en-US" sz="2400" dirty="0"/>
          </a:p>
        </p:txBody>
      </p:sp>
      <p:pic>
        <p:nvPicPr>
          <p:cNvPr id="3" name="Image 0" descr="7. BPO Management System: Sequenc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4158"/>
            <a:ext cx="11247120" cy="47811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ONE scenario in time order (top to bottom). Poor for loops and many branches; use alt/loop frames or an activity diagram instead.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7. BPO Management System: Collaboration Diagram</a:t>
            </a:r>
            <a:endParaRPr lang="en-US" sz="2400" dirty="0"/>
          </a:p>
        </p:txBody>
      </p:sp>
      <p:pic>
        <p:nvPicPr>
          <p:cNvPr id="3" name="Image 0" descr="7. BPO Management System: Collaboration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432" y="1005840"/>
            <a:ext cx="4206657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Same information as the sequence diagram, but emphasises object links; message order is shown only by numbers, and it gets cluttered with many objects.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7. BPO Management System: Activity Diagram</a:t>
            </a:r>
            <a:endParaRPr lang="en-US" sz="2400" dirty="0"/>
          </a:p>
        </p:txBody>
      </p:sp>
      <p:pic>
        <p:nvPicPr>
          <p:cNvPr id="3" name="Image 0" descr="7. BPO Management System: Activity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3921" y="1005840"/>
            <a:ext cx="2273678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flow of control: one initial node, guards on decisions must be mutually exclusive, every fork needs a matching join. Weak at showing which object owns an action.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7. BPO Management System: State Diagram (Ticket)</a:t>
            </a:r>
            <a:endParaRPr lang="en-US" sz="2400" dirty="0"/>
          </a:p>
        </p:txBody>
      </p:sp>
      <p:pic>
        <p:nvPicPr>
          <p:cNvPr id="3" name="Image 0" descr="7. BPO Management System: State Diagram (Tick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8861" y="1005840"/>
            <a:ext cx="7783798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Models the lifecycle of ONE object only. Every transition needs an event, guards must not overlap, and it suits reactive objects, not every class.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7. BPO Management System: Package Diagram</a:t>
            </a:r>
            <a:endParaRPr lang="en-US" sz="2400" dirty="0"/>
          </a:p>
        </p:txBody>
      </p:sp>
      <p:pic>
        <p:nvPicPr>
          <p:cNvPr id="3" name="Image 0" descr="7. BPO Management System: Packag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07676"/>
            <a:ext cx="11247120" cy="353408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Groups elements into namespaces and shows dependencies between groups; dependencies should not form cycles; internal detail is hidden.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7. BPO Management System: Component Diagram</a:t>
            </a:r>
            <a:endParaRPr lang="en-US" sz="2400" dirty="0"/>
          </a:p>
        </p:txBody>
      </p:sp>
      <p:pic>
        <p:nvPicPr>
          <p:cNvPr id="3" name="Image 0" descr="7. BPO Management System: Component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15631"/>
            <a:ext cx="11247120" cy="311817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Physical, modular view with provided (lollipop) and required (dashed) interfaces; shows no run-time behaviour and hides internal classes.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8. Conference Management System: Use Case Diagram</a:t>
            </a:r>
            <a:endParaRPr lang="en-US" sz="2400" dirty="0"/>
          </a:p>
        </p:txBody>
      </p:sp>
      <p:pic>
        <p:nvPicPr>
          <p:cNvPr id="3" name="Image 0" descr="8. Conference Management System: Use Cas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2924" y="1005840"/>
            <a:ext cx="6975672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WHAT the system does for its actors, not HOW. Actors stay outside the boundary; no ordering or data detail; «include» is mandatory, «extend» is conditional.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8. Conference Management System: Class Diagram</a:t>
            </a:r>
            <a:endParaRPr lang="en-US" sz="2400" dirty="0"/>
          </a:p>
        </p:txBody>
      </p:sp>
      <p:pic>
        <p:nvPicPr>
          <p:cNvPr id="3" name="Image 0" descr="8. Conference Management System: Class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9342"/>
            <a:ext cx="11247120" cy="255075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Static structure only; behaviour over time is not shown. Show multiplicity on associations; composition parts are not shared; generalization must not be circular.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8. Conference Management System: Sequence Diagram</a:t>
            </a:r>
            <a:endParaRPr lang="en-US" sz="2400" dirty="0"/>
          </a:p>
        </p:txBody>
      </p:sp>
      <p:pic>
        <p:nvPicPr>
          <p:cNvPr id="3" name="Image 0" descr="8. Conference Management System: Sequenc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2645"/>
            <a:ext cx="11247120" cy="444415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ONE scenario in time order (top to bottom). Poor for loops and many branches; use alt/loop frames or an activity diagram instead.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8. Conference Management System: Collaboration Diagram</a:t>
            </a:r>
            <a:endParaRPr lang="en-US" sz="2400" dirty="0"/>
          </a:p>
        </p:txBody>
      </p:sp>
      <p:pic>
        <p:nvPicPr>
          <p:cNvPr id="3" name="Image 0" descr="8. Conference Management System: Collaboration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499" y="1005840"/>
            <a:ext cx="4064523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Same information as the sequence diagram, but emphasises object links; message order is shown only by numbers, and it gets cluttered with many objects.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8. Conference Management System: Activity Diagram</a:t>
            </a:r>
            <a:endParaRPr lang="en-US" sz="2400" dirty="0"/>
          </a:p>
        </p:txBody>
      </p:sp>
      <p:pic>
        <p:nvPicPr>
          <p:cNvPr id="3" name="Image 0" descr="8. Conference Management System: Activity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221" y="1005840"/>
            <a:ext cx="4289079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Shows flow of control: one initial node, guards on decisions must be mutually exclusive, every fork needs a matching join. Weak at showing which object owns an action.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8. Conference Management System: State Diagram (Paper)</a:t>
            </a:r>
            <a:endParaRPr lang="en-US" sz="2400" dirty="0"/>
          </a:p>
        </p:txBody>
      </p:sp>
      <p:pic>
        <p:nvPicPr>
          <p:cNvPr id="3" name="Image 0" descr="8. Conference Management System: State Diagram (Pape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935" y="1005840"/>
            <a:ext cx="5175651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Models the lifecycle of ONE object only. Every transition needs an event, guards must not overlap, and it suits reactive objects, not every class.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8. Conference Management System: Package Diagram</a:t>
            </a:r>
            <a:endParaRPr lang="en-US" sz="2400" dirty="0"/>
          </a:p>
        </p:txBody>
      </p:sp>
      <p:pic>
        <p:nvPicPr>
          <p:cNvPr id="3" name="Image 0" descr="8. Conference Management System: Packag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9718"/>
            <a:ext cx="11247120" cy="35500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Groups elements into namespaces and shows dependencies between groups; dependencies should not form cycles; internal detail is hidden.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8. Conference Management System: Component Diagram</a:t>
            </a:r>
            <a:endParaRPr lang="en-US" sz="2400" dirty="0"/>
          </a:p>
        </p:txBody>
      </p:sp>
      <p:pic>
        <p:nvPicPr>
          <p:cNvPr id="3" name="Image 0" descr="8. Conference Management System: Component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85405"/>
            <a:ext cx="11247120" cy="357862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035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95959"/>
                </a:solidFill>
              </a:rPr>
              <a:t>Rule / limitation: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Physical, modular view with provided (lollipop) and required (dashed) interfaces; shows no run-time behaviour and hides internal classes.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ML Deck">
  <a:themeElements>
    <a:clrScheme name="UML Deck">
      <a:dk1>
        <a:srgbClr val="1A1A1A"/>
      </a:dk1>
      <a:lt1>
        <a:srgbClr val="FFFFFF"/>
      </a:lt1>
      <a:dk2>
        <a:srgbClr val="1F3A5F"/>
      </a:dk2>
      <a:lt2>
        <a:srgbClr val="EAF1FB"/>
      </a:lt2>
      <a:accent1>
        <a:srgbClr val="1F3A5F"/>
      </a:accent1>
      <a:accent2>
        <a:srgbClr val="2E75B6"/>
      </a:accent2>
      <a:accent3>
        <a:srgbClr val="C55A11"/>
      </a:accent3>
      <a:accent4>
        <a:srgbClr val="548235"/>
      </a:accent4>
      <a:accent5>
        <a:srgbClr val="7F6000"/>
      </a:accent5>
      <a:accent6>
        <a:srgbClr val="7030A0"/>
      </a:accent6>
      <a:hlink>
        <a:srgbClr val="2E75B6"/>
      </a:hlink>
      <a:folHlink>
        <a:srgbClr val="7030A0"/>
      </a:folHlink>
    </a:clrScheme>
    <a:fontScheme name="UML De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 Diagrams for Seven Software Projects</dc:title>
  <dc:subject>PptxGenJS Presentation</dc:subject>
  <dc:creator>PptxGenJS</dc:creator>
  <cp:lastModifiedBy>PptxGenJS</cp:lastModifiedBy>
  <cp:revision>1</cp:revision>
  <dcterms:created xsi:type="dcterms:W3CDTF">2026-10-28T03:21:20Z</dcterms:created>
  <dcterms:modified xsi:type="dcterms:W3CDTF">2026-10-28T03:21:20Z</dcterms:modified>
</cp:coreProperties>
</file>